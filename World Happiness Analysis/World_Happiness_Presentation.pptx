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8DADC"/>
                </a:solidFill>
              </a:rPr>
              <a:t>WORLD HAPPINESS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Analytics — Stage 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DADC"/>
                </a:solidFill>
              </a:rPr>
              <a:t>First Insights &amp; Visual Thinking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429000"/>
            <a:ext cx="7772400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66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</a:rPr>
              <a:t>Dataset: </a:t>
            </a:r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World Happiness Report 2015–2019   </a:t>
            </a:r>
            <a:pPr indent="0" marL="0">
              <a:buNone/>
            </a:pPr>
            <a:r>
              <a:rPr lang="en-US" sz="1100" dirty="0">
                <a:solidFill>
                  <a:srgbClr val="2E86AB"/>
                </a:solidFill>
              </a:rPr>
              <a:t> | </a:t>
            </a:r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</a:rPr>
              <a:t>  Source: </a:t>
            </a:r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Kaggle / Gallup World Poll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🌍 158 Countries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·  </a:t>
            </a:r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  5 Years of Data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·  </a:t>
            </a:r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  6 Variables Analyzed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</a:rPr>
              <a:t>SLIDE 2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What is the World Happiness Report?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 annual Gallup World Poll measuring self-reported well-being across nations. Countries score 0–10 on a 'Cantril ladder' life evaluation, aggregated from thousands of interviews per country.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1170432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61488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17296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2015–2019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112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91056" y="2697480"/>
            <a:ext cx="1170432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2761488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91056" y="317296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~158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91056" y="35112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Countries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16352" y="2697480"/>
            <a:ext cx="1170432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761488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16352" y="317296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0–10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16352" y="35112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 Range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41648" y="2697480"/>
            <a:ext cx="1170432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2761488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41648" y="317296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782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41648" y="35112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1143000"/>
            <a:ext cx="34290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14300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8DADC"/>
                </a:solidFill>
              </a:rPr>
              <a:t>6 KEY VARIABLES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59552" y="1719072"/>
            <a:ext cx="100584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17007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GDP per Capita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59552" y="2057400"/>
            <a:ext cx="100584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2039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Social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59552" y="2395728"/>
            <a:ext cx="100584" cy="21945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2377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Healthy Life Expectancy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59552" y="2734056"/>
            <a:ext cx="100584" cy="21945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27157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Freedom to Choose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59552" y="3072384"/>
            <a:ext cx="100584" cy="219456"/>
          </a:xfrm>
          <a:prstGeom prst="rect">
            <a:avLst/>
          </a:prstGeom>
          <a:solidFill>
            <a:srgbClr val="9381FF"/>
          </a:solidFill>
          <a:ln w="12700">
            <a:solidFill>
              <a:srgbClr val="938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0540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Trust in Government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59552" y="3410712"/>
            <a:ext cx="100584" cy="21945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33924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Generosity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First Glance: 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The dataset is clean and well-structured. Nordic nations cluster at the top consistently. Sub-Saharan Africa and war-torn nations score lowest. GDP, health, and social support are closely interlinked.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Q1: Which countries are consistently the happiest?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</a:rPr>
              <a:t>SLIDE 3 OF 6</a:t>
            </a:r>
            <a:endParaRPr lang="en-US" sz="900" dirty="0"/>
          </a:p>
        </p:txBody>
      </p:sp>
      <p:pic>
        <p:nvPicPr>
          <p:cNvPr id="5" name="Image 0" descr="/home/claude/ch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85216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097280"/>
            <a:ext cx="265176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DADC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691640"/>
            <a:ext cx="402336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691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39712" y="16642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Denmark leads with a 5-yr avg of 7.55 out of 10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55080" y="2468880"/>
            <a:ext cx="402336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468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🏔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39712" y="244144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 Top 10 are in W. Europe, Oceania or N. America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55080" y="3246120"/>
            <a:ext cx="402336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❄️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39712" y="32186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Nordic model: social safety nets + strong freedom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55080" y="4023360"/>
            <a:ext cx="402336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4023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📉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39712" y="39959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Top 10 cluster tightly (7.28–7.55); competitive race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Q2: What factors most strongly drive happiness?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</a:rPr>
              <a:t>SLIDE 4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1097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Correlation with Happiness Score (2019)</a:t>
            </a:r>
            <a:endParaRPr lang="en-US" sz="900" dirty="0"/>
          </a:p>
        </p:txBody>
      </p:sp>
      <p:pic>
        <p:nvPicPr>
          <p:cNvPr id="6" name="Image 0" descr="/home/claude/char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298448"/>
            <a:ext cx="448056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97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GDP per Capita vs. Happiness (2019)</a:t>
            </a:r>
            <a:endParaRPr lang="en-US" sz="900" dirty="0"/>
          </a:p>
        </p:txBody>
      </p:sp>
      <p:pic>
        <p:nvPicPr>
          <p:cNvPr id="8" name="Image 1" descr="/home/claude/chart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98448"/>
            <a:ext cx="4343400" cy="2606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4041648"/>
            <a:ext cx="2084832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407822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💰 GDP: r = 0.79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1752" y="4352544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Wealthiest nations are happiest — strongest single predictor.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41448" y="4041648"/>
            <a:ext cx="2084832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14600" y="407822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❤️ Health: r = 0.78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14600" y="4352544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Life expectancy and happiness are almost equally correlated.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54296" y="4041648"/>
            <a:ext cx="2084832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27448" y="407822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👥 Social: r = 0.78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27448" y="4352544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Having people to rely on matters as much as income.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67144" y="4041648"/>
            <a:ext cx="2084832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0296" y="407822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🎁 Generosity: 0.08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40296" y="4352544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Weakest link — giving behavior doesn't predict national score.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Q3: How does happiness vary by region and over time?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</a:rPr>
              <a:t>SLIDE 5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10789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Regional Average Scores (2015–2019)</a:t>
            </a:r>
            <a:endParaRPr lang="en-US" sz="900" dirty="0"/>
          </a:p>
        </p:txBody>
      </p:sp>
      <p:pic>
        <p:nvPicPr>
          <p:cNvPr id="6" name="Image 0" descr="/home/claude/char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80160"/>
            <a:ext cx="886968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Score Trends: Top 5 Nations</a:t>
            </a:r>
            <a:endParaRPr lang="en-US" sz="900" dirty="0"/>
          </a:p>
        </p:txBody>
      </p:sp>
      <p:pic>
        <p:nvPicPr>
          <p:cNvPr id="8" name="Image 1" descr="/home/claude/char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931920"/>
            <a:ext cx="5029200" cy="1097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49240" y="3913632"/>
            <a:ext cx="1170432" cy="11155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49240" y="391363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7.30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49240" y="4407408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Oceania &amp; N. Am.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629400" y="3913632"/>
            <a:ext cx="1170432" cy="11155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29400" y="391363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6.76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629400" y="4407408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W. Europe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09560" y="3913632"/>
            <a:ext cx="1170432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09560" y="391363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4.19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909560" y="4407408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Sub-Saharan Africa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200400"/>
          </a:xfrm>
          <a:prstGeom prst="ellipse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E63946">
              <a:alpha val="18000"/>
            </a:srgbClr>
          </a:solidFill>
          <a:ln w="12700">
            <a:solidFill>
              <a:srgbClr val="E6394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DADC"/>
                </a:solidFill>
              </a:rPr>
              <a:t>KEY TAKEAWAYS &amp; LIMITATIONS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Nordic nations lead the world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</a:rPr>
              <a:t>Denmark, Norway, Finland &amp; Iceland have held the top 5 consistently from 2015 to 2019.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465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4650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GDP + Health + Social = Happiness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</a:rPr>
              <a:t>These 3 factors explain most of the variance in happiness (r &gt; 0.77 each), far outpacing trust and generosity.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24328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62432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 4.47-point global divide exists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288950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</a:rPr>
              <a:t>The happiness gap between richest and most deprived nations spans nearly half the entire 0–10 scale.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02152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02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021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Global scores are remarkably stable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7673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CC"/>
                </a:solidFill>
              </a:rPr>
              <a:t>Average global happiness shifted by less than 0.05 points in 5 years — systemic drivers, not events, shape happiness.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822960"/>
            <a:ext cx="2788920" cy="3474720"/>
          </a:xfrm>
          <a:prstGeom prst="rect">
            <a:avLst/>
          </a:prstGeom>
          <a:solidFill>
            <a:srgbClr val="0D204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822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DADC"/>
                </a:solidFill>
              </a:rPr>
              <a:t>LIMITATIONS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142646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1371600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Self-reported scores may carry cultural response bias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36208" y="1956816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1901952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Some regions have fewer countries, skewing averages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36208" y="2487168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2432304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2017 data lacks region labels — mapped from 2015–16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6208" y="301752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296265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5-year window may miss longer economic policy cycles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36208" y="3547872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3493008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Correlation ≠ causation: GDP links don't prove GDP causes happiness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Analysis — World Happiness Report 2015–2019  |  HNG Data Analytics Track — Stage 0  |  #HNGDataAnalytics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Happiness Report — Data Analytics Stage 0</dc:title>
  <dc:subject>PptxGenJS Presentation</dc:subject>
  <dc:creator>PptxGenJS</dc:creator>
  <cp:lastModifiedBy>PptxGenJS</cp:lastModifiedBy>
  <cp:revision>1</cp:revision>
  <dcterms:created xsi:type="dcterms:W3CDTF">2026-04-17T08:25:57Z</dcterms:created>
  <dcterms:modified xsi:type="dcterms:W3CDTF">2026-04-17T08:25:57Z</dcterms:modified>
</cp:coreProperties>
</file>