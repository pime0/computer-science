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28600"/>
            <a:ext cx="7315200" cy="621792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228600"/>
            <a:ext cx="73152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CSC 436 — SOFTWARE PROJECT MANAGEMENT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2E8F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ProTrack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Agile Software Project Management System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3200400" cy="45720"/>
          </a:xfrm>
          <a:prstGeom prst="rect">
            <a:avLst/>
          </a:prstGeom>
          <a:solidFill>
            <a:srgbClr val="374D6E"/>
          </a:solidFill>
          <a:ln w="12700">
            <a:solidFill>
              <a:srgbClr val="374D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774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Software Project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400-Level Computer Science  |  SIWES Industrial Project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09067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Full Name]  •  [Matric Number]  •  [Your University]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2212848" cy="402336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66160"/>
            <a:ext cx="2212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Kanban Board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88920" y="3566160"/>
            <a:ext cx="2212848" cy="402336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3566160"/>
            <a:ext cx="2212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Sprint Planning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3566160"/>
            <a:ext cx="2212848" cy="402336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3566160"/>
            <a:ext cx="2212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Product Backlog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41648"/>
            <a:ext cx="2212848" cy="402336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41648"/>
            <a:ext cx="2212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Velocity Charts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88920" y="4041648"/>
            <a:ext cx="2212848" cy="402336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8920" y="4041648"/>
            <a:ext cx="2212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Gantt Chart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20640" y="4041648"/>
            <a:ext cx="2212848" cy="402336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4041648"/>
            <a:ext cx="2212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Risk Register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517136"/>
            <a:ext cx="2212848" cy="402336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17136"/>
            <a:ext cx="2212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Team Management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88920" y="4517136"/>
            <a:ext cx="2212848" cy="402336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4517136"/>
            <a:ext cx="2212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 Estimation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0640" y="4517136"/>
            <a:ext cx="2212848" cy="402336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4517136"/>
            <a:ext cx="2212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SDLC Models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863840" y="274320"/>
            <a:ext cx="1920240" cy="228600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863840" y="274320"/>
            <a:ext cx="192024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6400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0" y="1783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966960" y="274320"/>
            <a:ext cx="1920240" cy="228600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966960" y="274320"/>
            <a:ext cx="192024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66960" y="6400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47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9966960" y="1783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863840" y="2834640"/>
            <a:ext cx="1920240" cy="228600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863840" y="2834640"/>
            <a:ext cx="192024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32004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7863840" y="4343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966960" y="2834640"/>
            <a:ext cx="1920240" cy="228600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966960" y="2834640"/>
            <a:ext cx="192024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966960" y="32004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B6D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COCOMO</a:t>
            </a:r>
            <a:endParaRPr lang="en-US" sz="3400" dirty="0"/>
          </a:p>
        </p:txBody>
      </p:sp>
      <p:sp>
        <p:nvSpPr>
          <p:cNvPr id="46" name="Text 44"/>
          <p:cNvSpPr/>
          <p:nvPr/>
        </p:nvSpPr>
        <p:spPr>
          <a:xfrm>
            <a:off x="9966960" y="4343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Model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61B27"/>
          </a:solidFill>
          <a:ln w="12700">
            <a:solidFill>
              <a:srgbClr val="161B2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6647688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5272"/>
                </a:solidFill>
              </a:rPr>
              <a:t>ProTrack | CSC 436: Software Project Management | 400-Level Computer Science | SIWES Portfolio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61B27"/>
          </a:solidFill>
          <a:ln w="12700">
            <a:solidFill>
              <a:srgbClr val="16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6647688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5272"/>
                </a:solidFill>
              </a:rPr>
              <a:t>ProTrack — CSC 436: Software Project Management  |  400-Level Computer Science  |  SIWES Portfolio Project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</a:rPr>
              <a:t>AGENDA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Presentation Contents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486400" cy="9601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54864" cy="9601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097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" y="109728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9848" y="149961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CS theory and PM practice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093976"/>
            <a:ext cx="5486400" cy="9601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93976"/>
            <a:ext cx="54864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1854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9848" y="218541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" y="258775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modules, full project lifecycle coverage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182112"/>
            <a:ext cx="5486400" cy="9601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82112"/>
            <a:ext cx="54864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2735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69848" y="327355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Agile/Scrum Framework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9848" y="367588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planning, backlog, Kanban, velocity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270248"/>
            <a:ext cx="5486400" cy="9601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270248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43616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69848" y="436168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 &amp; SDLC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9848" y="476402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timeline, WBS, and model comparison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5358384"/>
            <a:ext cx="5486400" cy="9601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5358384"/>
            <a:ext cx="54864" cy="9601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54498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69848" y="544982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69848" y="585216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register, heat matrix, mitigation strategies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1005840"/>
            <a:ext cx="5486400" cy="9601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0" y="1005840"/>
            <a:ext cx="54864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1097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50608" y="109728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Estimation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50608" y="149961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RACI, COCOMO II, Function Point Analysis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2093976"/>
            <a:ext cx="5486400" cy="9601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0" y="2093976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21854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150608" y="218541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150608" y="258775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stack, design decisions, UI patterns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0" y="3182112"/>
            <a:ext cx="5486400" cy="9601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00800" y="3182112"/>
            <a:ext cx="54864" cy="9601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5392" y="32735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150608" y="327355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Highlights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150608" y="367588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screens from the ProTrack application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0" y="4270248"/>
            <a:ext cx="5486400" cy="9601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00800" y="4270248"/>
            <a:ext cx="54864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65392" y="43616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09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150608" y="436168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150608" y="476402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plan, test cases, quality assurance results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00800" y="5358384"/>
            <a:ext cx="5486400" cy="9601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00800" y="5358384"/>
            <a:ext cx="54864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65392" y="54498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150608" y="544982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150608" y="585216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SIWES alignment,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61B27"/>
          </a:solidFill>
          <a:ln w="12700">
            <a:solidFill>
              <a:srgbClr val="16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6647688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5272"/>
                </a:solidFill>
              </a:rPr>
              <a:t>ProTrack — CSC 436: Software Project Management  |  400-Level Computer Science  |  SIWES Portfolio Project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</a:rPr>
              <a:t>SLIDE 01–02 — CONTEXT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Problem Statement &amp; Project Objectives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69264"/>
            <a:ext cx="5486400" cy="539496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9264"/>
            <a:ext cx="5486400" cy="502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43F5E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35331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curricula teach excellent technical skills but often fail to deliver hands-on project management experience: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52120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901952"/>
            <a:ext cx="54864" cy="7132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56816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9751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PM Tools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2677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never use real tracking tools — Kanban, Gantt, sprint boards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706624"/>
            <a:ext cx="52120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706624"/>
            <a:ext cx="54864" cy="7132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761488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27797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Theory-Only Estimation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0723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COCOMO, FPA taught as formulas — never applied to real projects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511296"/>
            <a:ext cx="52120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511296"/>
            <a:ext cx="54864" cy="7132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6616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35844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Blind Spots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8770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not practiced until problems already occur in industry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315968"/>
            <a:ext cx="52120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4315968"/>
            <a:ext cx="54864" cy="7132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370832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🏃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Agile Exposure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681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ceremonies (standups, retrospectives, sprint reviews) unfamiliar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5120640"/>
            <a:ext cx="521208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5120640"/>
            <a:ext cx="54864" cy="7132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5175504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05840" y="51937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Dynamics Gap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" y="5486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across roles &amp; responsibilities rarely simulated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969264"/>
            <a:ext cx="5852160" cy="539496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969264"/>
            <a:ext cx="585216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11155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</a:rPr>
              <a:t>PROJECT OBJECTIVES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17920" y="1901952"/>
            <a:ext cx="5394960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1901952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19568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Agile/Scrum System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0" y="224942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Kanban, sprint planning, backlog, velocity tracking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2651760"/>
            <a:ext cx="5394960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17920" y="265176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27066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 Builder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0" y="29992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project timeline with tasks, milestones, WBS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17920" y="3401568"/>
            <a:ext cx="5394960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17920" y="3401568"/>
            <a:ext cx="54864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34564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400800" y="37490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5-category risk matrix, mitigation strategies, heatmap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17920" y="4151376"/>
            <a:ext cx="5394960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17920" y="4151376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4206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COCOMO II Calculator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400800" y="44988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Effort, duration, team size, and total cost from LOC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17920" y="4901184"/>
            <a:ext cx="5394960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17920" y="4901184"/>
            <a:ext cx="54864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0" y="49560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 Comparison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400800" y="524865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Waterfall, Agile, Spiral, V-Model side-by-side analysis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17920" y="5650992"/>
            <a:ext cx="5394960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217920" y="5650992"/>
            <a:ext cx="54864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0" y="57058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400800" y="599846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assignment, RACI matrix, workload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61B27"/>
          </a:solidFill>
          <a:ln w="12700">
            <a:solidFill>
              <a:srgbClr val="16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6647688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5272"/>
                </a:solidFill>
              </a:rPr>
              <a:t>ProTrack — CSC 436: Software Project Management  |  400-Level Computer Science  |  SIWES Portfolio Project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</a:rPr>
              <a:t>SLIDE 03 — AGILE METHODOLOGY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Agile / Scrum Framework Implementation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69264"/>
            <a:ext cx="5486400" cy="283464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9264"/>
            <a:ext cx="54864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</a:rPr>
              <a:t>SCRUM CYCLE (2-WEEK SPRINTS)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5212080" cy="438912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417320"/>
            <a:ext cx="54864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463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84832" y="1463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selects backlog items, estimates story points, sets sprint goal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929384"/>
            <a:ext cx="5212080" cy="438912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929384"/>
            <a:ext cx="54864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197510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84832" y="19751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sync: What did you do? What will you do? Any blockers?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441448"/>
            <a:ext cx="5212080" cy="438912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441448"/>
            <a:ext cx="54864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4871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84832" y="2487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completed features to stakeholders, collect feedback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2953512"/>
            <a:ext cx="5212080" cy="438912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2953512"/>
            <a:ext cx="54864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29992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84832" y="29992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well? What to improve? Action items for next sprint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931920"/>
            <a:ext cx="5486400" cy="2432304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931920"/>
            <a:ext cx="548640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078224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10B981"/>
                </a:solidFill>
              </a:rPr>
              <a:t>SPRINT VELOCITY SUMMARY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4279392"/>
            <a:ext cx="521208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8368" y="43251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Sprint 1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627632" y="432511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1–14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80360" y="4325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28/28 pts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069080" y="4416552"/>
            <a:ext cx="1463040" cy="182880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69080" y="4416552"/>
            <a:ext cx="146304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435254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4937760"/>
            <a:ext cx="521208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4983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Sprint 2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627632" y="49834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15–28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880360" y="4983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29/30 pts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069080" y="5074920"/>
            <a:ext cx="1463040" cy="182880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69080" y="5074920"/>
            <a:ext cx="1419149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501091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" y="5596128"/>
            <a:ext cx="521208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58368" y="56418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Sprint 3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627632" y="56418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1–14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880360" y="56418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21/34 pts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069080" y="5733288"/>
            <a:ext cx="1463040" cy="182880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69080" y="5733288"/>
            <a:ext cx="907085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0" y="566928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62%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035040" y="969264"/>
            <a:ext cx="5852160" cy="539496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035040" y="969264"/>
            <a:ext cx="585216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11155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6B6D4"/>
                </a:solidFill>
              </a:rPr>
              <a:t>KANBAN BOARD — SPRINT 3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217920" y="1444752"/>
            <a:ext cx="1691640" cy="4864608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17920" y="1444752"/>
            <a:ext cx="1691640" cy="320040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0" y="14447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309360" y="1847088"/>
            <a:ext cx="1508760" cy="91440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309360" y="1847088"/>
            <a:ext cx="1508760" cy="50292"/>
          </a:xfrm>
          <a:prstGeom prst="rect">
            <a:avLst/>
          </a:prstGeom>
          <a:solidFill>
            <a:srgbClr val="7D94B5"/>
          </a:solidFill>
          <a:ln w="12700">
            <a:solidFill>
              <a:srgbClr val="7D94B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45936" y="1920240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API rate limiting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309360" y="2871216"/>
            <a:ext cx="1508760" cy="91440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309360" y="2871216"/>
            <a:ext cx="1508760" cy="50292"/>
          </a:xfrm>
          <a:prstGeom prst="rect">
            <a:avLst/>
          </a:prstGeom>
          <a:solidFill>
            <a:srgbClr val="7D94B5"/>
          </a:solidFill>
          <a:ln w="12700">
            <a:solidFill>
              <a:srgbClr val="7D94B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45936" y="2944368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API documentation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309360" y="3895344"/>
            <a:ext cx="1508760" cy="91440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309360" y="3895344"/>
            <a:ext cx="1508760" cy="50292"/>
          </a:xfrm>
          <a:prstGeom prst="rect">
            <a:avLst/>
          </a:prstGeom>
          <a:solidFill>
            <a:srgbClr val="7D94B5"/>
          </a:solidFill>
          <a:ln w="12700">
            <a:solidFill>
              <a:srgbClr val="7D94B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45936" y="3968496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 chart auto-update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046720" y="1444752"/>
            <a:ext cx="1691640" cy="4864608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8046720" y="1444752"/>
            <a:ext cx="1691640" cy="320040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46720" y="14447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138160" y="1847088"/>
            <a:ext cx="1508760" cy="91440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8138160" y="1847088"/>
            <a:ext cx="150876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174736" y="1920240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via TOTP authenticator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8138160" y="2871216"/>
            <a:ext cx="1508760" cy="91440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8138160" y="2871216"/>
            <a:ext cx="150876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174736" y="2944368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drag-and-drop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138160" y="3895344"/>
            <a:ext cx="1508760" cy="91440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8138160" y="3895344"/>
            <a:ext cx="150876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174736" y="3968496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validation middleware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9875520" y="1444752"/>
            <a:ext cx="1691640" cy="4864608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9875520" y="1444752"/>
            <a:ext cx="1691640" cy="320040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75520" y="14447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966960" y="1847088"/>
            <a:ext cx="1508760" cy="91440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9966960" y="1847088"/>
            <a:ext cx="15087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003536" y="1920240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velocity graph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966960" y="2871216"/>
            <a:ext cx="1508760" cy="91440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9966960" y="2871216"/>
            <a:ext cx="15087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03536" y="2944368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 layout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9966960" y="3895344"/>
            <a:ext cx="1508760" cy="91440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9966960" y="3895344"/>
            <a:ext cx="15087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003536" y="3968496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CRUD endpoints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61B27"/>
          </a:solidFill>
          <a:ln w="12700">
            <a:solidFill>
              <a:srgbClr val="16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6647688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5272"/>
                </a:solidFill>
              </a:rPr>
              <a:t>ProTrack — CSC 436: Software Project Management  |  400-Level Computer Science  |  SIWES Portfolio Project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</a:rPr>
              <a:t>SLIDE 04 — PLANNING TOOLS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Gantt Chart &amp; SDLC Model Selection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69264"/>
            <a:ext cx="11567160" cy="320040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9264"/>
            <a:ext cx="1156716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59E0B"/>
                </a:solidFill>
              </a:rPr>
              <a:t>PROJECT GANTT CHART — PROTRACK APP (MAY–AUG 2025)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0" y="1417320"/>
            <a:ext cx="2148840" cy="292608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41732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92040" y="1417320"/>
            <a:ext cx="2148840" cy="292608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1732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40880" y="1417320"/>
            <a:ext cx="2148840" cy="292608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41732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89720" y="1417320"/>
            <a:ext cx="2148840" cy="292608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141732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1755648"/>
            <a:ext cx="219456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75564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Planning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0" y="1792224"/>
            <a:ext cx="652326" cy="2011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066544"/>
            <a:ext cx="219456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06654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Foundation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0" y="2103120"/>
            <a:ext cx="1304653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377440"/>
            <a:ext cx="219456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Core Features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047853" y="2414016"/>
            <a:ext cx="1304653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04832" y="1417320"/>
            <a:ext cx="0" cy="2825496"/>
          </a:xfrm>
          <a:prstGeom prst="line">
            <a:avLst/>
          </a:prstGeom>
          <a:noFill/>
          <a:ln w="25400">
            <a:solidFill>
              <a:srgbClr val="F43F5E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5684792" y="13258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3F5E"/>
                </a:solidFill>
              </a:rPr>
              <a:t>Today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688336"/>
            <a:ext cx="219456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68833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User Features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52506" y="2724912"/>
            <a:ext cx="1304653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999232"/>
            <a:ext cx="219456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9992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Enhancements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657159" y="3035808"/>
            <a:ext cx="1304653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310128"/>
            <a:ext cx="219456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3101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— DevOps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961811" y="3346704"/>
            <a:ext cx="1304653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621024"/>
            <a:ext cx="219456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62102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— QA &amp; Deploy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266464" y="3657600"/>
            <a:ext cx="1304653" cy="2011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3931920"/>
            <a:ext cx="219456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9319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&amp; Production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918791" y="3968496"/>
            <a:ext cx="1304653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4297680"/>
            <a:ext cx="11567160" cy="201168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0040" y="4297680"/>
            <a:ext cx="115671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443984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10B981"/>
                </a:solidFill>
              </a:rPr>
              <a:t>SDLC MODEL COMPARISON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02920" y="4700016"/>
            <a:ext cx="2651760" cy="146304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02920" y="4700016"/>
            <a:ext cx="2651760" cy="502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47731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Waterfall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94360" y="51023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scope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94360" y="5596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change: ❌ High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Flexibility: ❌ Rigid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337560" y="4700016"/>
            <a:ext cx="2651760" cy="1463040"/>
          </a:xfrm>
          <a:prstGeom prst="rect">
            <a:avLst/>
          </a:prstGeom>
          <a:solidFill>
            <a:srgbClr val="1C2333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337560" y="4700016"/>
            <a:ext cx="26517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29000" y="47731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Agile ✓ USED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429000" y="51023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scope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429000" y="5596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change: ✅ Low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Flexibility: ✅ High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172200" y="4700016"/>
            <a:ext cx="2651760" cy="146304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72200" y="4700016"/>
            <a:ext cx="265176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63640" y="47731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Spiral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263640" y="51023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Risk-driven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Complex/risky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263640" y="5596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change: ⚠️ Med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Flexibility: ✅ High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006840" y="4700016"/>
            <a:ext cx="2651760" cy="146304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9006840" y="4700016"/>
            <a:ext cx="265176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98280" y="47731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V-Model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9098280" y="51023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critical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098280" y="5596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change: ❌ High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Flexibility: ❌ Rigid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61B27"/>
          </a:solidFill>
          <a:ln w="12700">
            <a:solidFill>
              <a:srgbClr val="16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6647688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5272"/>
                </a:solidFill>
              </a:rPr>
              <a:t>ProTrack — CSC 436: Software Project Management  |  400-Level Computer Science  |  SIWES Portfolio Project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</a:rPr>
              <a:t>SLIDE 05–06 — RISK &amp; ESTIMATION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Risk Management &amp; Cost Estimation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69264"/>
            <a:ext cx="6858000" cy="539496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9264"/>
            <a:ext cx="6858000" cy="502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43F5E"/>
                </a:solidFill>
              </a:rPr>
              <a:t>⚠️ RISK REGISTER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3D5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1389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3D5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49040" y="13898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3D5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80560" y="13898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3D5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12080" y="138988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3D5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80760" y="13898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3D5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1389888"/>
            <a:ext cx="6492240" cy="256032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682496"/>
            <a:ext cx="6492240" cy="64008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1682496"/>
            <a:ext cx="45720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1819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172821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developer leaves mid-project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181965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181965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12080" y="1865376"/>
            <a:ext cx="77724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86537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80760" y="1865376"/>
            <a:ext cx="868680" cy="274320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186537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2395728"/>
            <a:ext cx="6492240" cy="64008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395728"/>
            <a:ext cx="45720" cy="6400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2532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24414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from client changes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49040" y="25328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80560" y="25328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12080" y="2578608"/>
            <a:ext cx="77724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25786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0760" y="2578608"/>
            <a:ext cx="868680" cy="274320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257860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3108960"/>
            <a:ext cx="6492240" cy="64008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2920" y="3108960"/>
            <a:ext cx="4572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05840" y="3154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downtime / data loss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749040" y="3246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480560" y="3246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212080" y="3291840"/>
            <a:ext cx="77724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32918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80760" y="3291840"/>
            <a:ext cx="868680" cy="274320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80760" y="32918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2920" y="3822192"/>
            <a:ext cx="6492240" cy="64008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02920" y="3822192"/>
            <a:ext cx="4572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3959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05840" y="386791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integration failures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749040" y="39593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480560" y="39593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212080" y="4005072"/>
            <a:ext cx="77724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2080" y="400507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80760" y="4005072"/>
            <a:ext cx="868680" cy="274320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80760" y="400507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02920" y="4535424"/>
            <a:ext cx="6492240" cy="64008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02920" y="4535424"/>
            <a:ext cx="4572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4672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R5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05840" y="458114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communication breakdown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749040" y="467258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480560" y="467258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212080" y="4718304"/>
            <a:ext cx="77724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12080" y="471830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080760" y="4718304"/>
            <a:ext cx="868680" cy="274320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80760" y="4718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406640" y="969264"/>
            <a:ext cx="4663440" cy="539496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7406640" y="969264"/>
            <a:ext cx="466344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89520" y="11155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59E0B"/>
                </a:solidFill>
              </a:rPr>
              <a:t>💰 COCOMO II ESTIMATION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589520" y="1417320"/>
            <a:ext cx="4297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Size:  8.5 KLOC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         Semi-Detached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Constants:     a=3.0, b=1.12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Effort   = 3.0 × (8.5)^1.12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= 3.0 × 11.58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= 34.7 person-months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 = 2.5 × (34.7)^0.35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= 2.5 × 3.78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= 9.4 months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    = 34.7 / 9.4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= 3.7 ≈ 4 developers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Rate:    ₦150,000/month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Cost:    34.7 × ₦150,000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= ₦5,205,000 total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589520" y="51937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3D5272"/>
                </a:solidFill>
              </a:rPr>
              <a:t>BUDGET BREAKDOWN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589520" y="5376672"/>
            <a:ext cx="132588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635240" y="53949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60%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7635240" y="555955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₦3,123,000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9006840" y="5376672"/>
            <a:ext cx="132588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052560" y="53949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15%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9052560" y="555955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₦780,750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0424160" y="5376672"/>
            <a:ext cx="132588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469880" y="53949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10%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10469880" y="555955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₦520,500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7589520" y="5833872"/>
            <a:ext cx="132588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35240" y="58521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10%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7635240" y="601675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₦520,500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9006840" y="5833872"/>
            <a:ext cx="132588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052560" y="58521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5%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9052560" y="601675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₦260,250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61B27"/>
          </a:solidFill>
          <a:ln w="12700">
            <a:solidFill>
              <a:srgbClr val="16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6647688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5272"/>
                </a:solidFill>
              </a:rPr>
              <a:t>ProTrack — CSC 436: Software Project Management  |  400-Level Computer Science  |  SIWES Portfolio Project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</a:rPr>
              <a:t>SLIDE 07 — TEAM MANAGEMENT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Team Structure &amp; Role Allocation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69264"/>
            <a:ext cx="2697480" cy="30175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9264"/>
            <a:ext cx="269748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170432"/>
            <a:ext cx="685800" cy="68580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1704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195681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Adebayo Olamide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2677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/ Backend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596896"/>
            <a:ext cx="1207008" cy="438912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33472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2834640"/>
            <a:ext cx="1207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09928" y="2596896"/>
            <a:ext cx="1207008" cy="438912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09928" y="2633472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48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09928" y="2834640"/>
            <a:ext cx="1207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done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127248"/>
            <a:ext cx="7772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2724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280160" y="3127248"/>
            <a:ext cx="7772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312724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48840" y="3127248"/>
            <a:ext cx="7772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312724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46120" y="969264"/>
            <a:ext cx="2697480" cy="30175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969264"/>
            <a:ext cx="269748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1170432"/>
            <a:ext cx="685800" cy="68580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11704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37560" y="195681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Chidinma Eze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22677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UI-UX Dev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2596896"/>
            <a:ext cx="1207008" cy="438912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633472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37560" y="2834640"/>
            <a:ext cx="1207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36008" y="2596896"/>
            <a:ext cx="1207008" cy="438912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36008" y="2633472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36008" y="2834640"/>
            <a:ext cx="1207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done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37560" y="3127248"/>
            <a:ext cx="7772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312724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206240" y="3127248"/>
            <a:ext cx="7772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312724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74920" y="3127248"/>
            <a:ext cx="7772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312724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72200" y="969264"/>
            <a:ext cx="2697480" cy="30175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72200" y="969264"/>
            <a:ext cx="269748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78040" y="1170432"/>
            <a:ext cx="685800" cy="68580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11704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263640" y="195681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Ibrahim Musa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63640" y="22677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Admin / Backend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63640" y="2596896"/>
            <a:ext cx="1207008" cy="438912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2633472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63640" y="2834640"/>
            <a:ext cx="1207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62088" y="2596896"/>
            <a:ext cx="1207008" cy="438912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2088" y="2633472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31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562088" y="2834640"/>
            <a:ext cx="1207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done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63640" y="3127248"/>
            <a:ext cx="7772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63640" y="312724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132320" y="3127248"/>
            <a:ext cx="7772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32320" y="312724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001000" y="3127248"/>
            <a:ext cx="7772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01000" y="312724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9098280" y="969264"/>
            <a:ext cx="2697480" cy="30175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9098280" y="969264"/>
            <a:ext cx="26974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04120" y="1170432"/>
            <a:ext cx="685800" cy="68580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104120" y="11704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9189720" y="195681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Fatima Aliyu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9189720" y="22677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/ DevOps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9189720" y="2596896"/>
            <a:ext cx="1207008" cy="438912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89720" y="2633472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189720" y="2834640"/>
            <a:ext cx="1207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0488168" y="2596896"/>
            <a:ext cx="1207008" cy="438912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488168" y="2633472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29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0488168" y="2834640"/>
            <a:ext cx="1207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done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9189720" y="3127248"/>
            <a:ext cx="7772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189720" y="312724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10058400" y="3127248"/>
            <a:ext cx="7772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058400" y="312724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0927080" y="3127248"/>
            <a:ext cx="7772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927080" y="312724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20040" y="4114800"/>
            <a:ext cx="11567160" cy="219456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320040" y="4114800"/>
            <a:ext cx="1156716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2920" y="4261104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8B5CF6"/>
                </a:solidFill>
              </a:rPr>
              <a:t>RACI MATRIX — RESPONSIBILITY ASSIGNMENT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02920" y="4498848"/>
            <a:ext cx="2103120" cy="274320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2920" y="44988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2697480" y="4498848"/>
            <a:ext cx="2103120" cy="274320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697480" y="44988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Adebayo (SM)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892040" y="4498848"/>
            <a:ext cx="2103120" cy="274320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92040" y="44988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Chidinma (FE)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7086600" y="4498848"/>
            <a:ext cx="2103120" cy="274320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086600" y="44988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(DB)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9281160" y="4498848"/>
            <a:ext cx="2103120" cy="274320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281160" y="44988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(DevOps)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502920" y="4809744"/>
            <a:ext cx="2103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48640" y="48097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2697480" y="4809744"/>
            <a:ext cx="2103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697480" y="48097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4892040" y="4809744"/>
            <a:ext cx="2103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892040" y="48097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7086600" y="4809744"/>
            <a:ext cx="2103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086600" y="48097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9281160" y="4809744"/>
            <a:ext cx="2103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281160" y="48097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2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502920" y="5111496"/>
            <a:ext cx="2103120" cy="27432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48640" y="51114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2697480" y="5111496"/>
            <a:ext cx="2103120" cy="27432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697480" y="51114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4892040" y="5111496"/>
            <a:ext cx="2103120" cy="27432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892040" y="51114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7086600" y="5111496"/>
            <a:ext cx="2103120" cy="27432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086600" y="51114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9281160" y="5111496"/>
            <a:ext cx="2103120" cy="27432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281160" y="51114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502920" y="5413248"/>
            <a:ext cx="2103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48640" y="54132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2697480" y="5413248"/>
            <a:ext cx="2103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697480" y="54132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2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4892040" y="5413248"/>
            <a:ext cx="2103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892040" y="54132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2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7086600" y="5413248"/>
            <a:ext cx="2103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086600" y="54132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9281160" y="5413248"/>
            <a:ext cx="2103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281160" y="54132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502920" y="5715000"/>
            <a:ext cx="2103120" cy="27432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48640" y="5715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2697480" y="5715000"/>
            <a:ext cx="2103120" cy="27432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697480" y="5715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2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4892040" y="5715000"/>
            <a:ext cx="2103120" cy="27432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892040" y="5715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7086600" y="5715000"/>
            <a:ext cx="2103120" cy="27432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086600" y="5715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2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9281160" y="5715000"/>
            <a:ext cx="2103120" cy="27432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281160" y="5715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502920" y="6016752"/>
            <a:ext cx="2103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48640" y="6016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Deploy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2697480" y="6016752"/>
            <a:ext cx="2103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697480" y="60167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2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4892040" y="6016752"/>
            <a:ext cx="2103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892040" y="60167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7086600" y="6016752"/>
            <a:ext cx="2103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086600" y="60167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2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200" dirty="0"/>
          </a:p>
        </p:txBody>
      </p:sp>
      <p:sp>
        <p:nvSpPr>
          <p:cNvPr id="139" name="Shape 137"/>
          <p:cNvSpPr/>
          <p:nvPr/>
        </p:nvSpPr>
        <p:spPr>
          <a:xfrm>
            <a:off x="9281160" y="6016752"/>
            <a:ext cx="21031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281160" y="60167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502920" y="6318504"/>
            <a:ext cx="2103120" cy="27432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48640" y="63185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000" dirty="0"/>
          </a:p>
        </p:txBody>
      </p:sp>
      <p:sp>
        <p:nvSpPr>
          <p:cNvPr id="143" name="Shape 141"/>
          <p:cNvSpPr/>
          <p:nvPr/>
        </p:nvSpPr>
        <p:spPr>
          <a:xfrm>
            <a:off x="2697480" y="6318504"/>
            <a:ext cx="2103120" cy="27432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697480" y="63185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200" dirty="0"/>
          </a:p>
        </p:txBody>
      </p:sp>
      <p:sp>
        <p:nvSpPr>
          <p:cNvPr id="145" name="Shape 143"/>
          <p:cNvSpPr/>
          <p:nvPr/>
        </p:nvSpPr>
        <p:spPr>
          <a:xfrm>
            <a:off x="4892040" y="6318504"/>
            <a:ext cx="2103120" cy="27432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892040" y="63185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200" dirty="0"/>
          </a:p>
        </p:txBody>
      </p:sp>
      <p:sp>
        <p:nvSpPr>
          <p:cNvPr id="147" name="Shape 145"/>
          <p:cNvSpPr/>
          <p:nvPr/>
        </p:nvSpPr>
        <p:spPr>
          <a:xfrm>
            <a:off x="7086600" y="6318504"/>
            <a:ext cx="2103120" cy="27432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7086600" y="63185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9281160" y="6318504"/>
            <a:ext cx="2103120" cy="274320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281160" y="63185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2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200" dirty="0"/>
          </a:p>
        </p:txBody>
      </p:sp>
      <p:sp>
        <p:nvSpPr>
          <p:cNvPr id="151" name="Text 149"/>
          <p:cNvSpPr/>
          <p:nvPr/>
        </p:nvSpPr>
        <p:spPr>
          <a:xfrm>
            <a:off x="502920" y="6528816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5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R=Responsible  A=Accountable  C=Consulted  I=Informed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61B27"/>
          </a:solidFill>
          <a:ln w="12700">
            <a:solidFill>
              <a:srgbClr val="16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6647688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5272"/>
                </a:solidFill>
              </a:rPr>
              <a:t>ProTrack — CSC 436: Software Project Management  |  400-Level Computer Science  |  SIWES Portfolio Project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</a:rPr>
              <a:t>SLIDE 09 — QUALITY ASSURANCE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Testing Strategy &amp; Validation Results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69264"/>
            <a:ext cx="269748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9264"/>
            <a:ext cx="269748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Tested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969264"/>
            <a:ext cx="269748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69264"/>
            <a:ext cx="269748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97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46120" y="1572768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969264"/>
            <a:ext cx="269748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969264"/>
            <a:ext cx="269748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097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72200" y="1572768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98280" y="969264"/>
            <a:ext cx="269748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98280" y="969264"/>
            <a:ext cx="26974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1097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098280" y="1572768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011680"/>
            <a:ext cx="11567160" cy="4315968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011680"/>
            <a:ext cx="11567160" cy="320040"/>
          </a:xfrm>
          <a:prstGeom prst="rect">
            <a:avLst/>
          </a:prstGeom>
          <a:solidFill>
            <a:srgbClr val="222D42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0299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3D5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554480" y="20299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3D5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23360" y="2029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3D5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58000" y="2029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3D5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515600" y="20299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3D5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2359152"/>
            <a:ext cx="1156716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4140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554480" y="241401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Kanban Board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023360" y="241401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adds story to Sprint 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58000" y="241401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 appears in "To Do" column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515600" y="241401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274320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554480" y="27432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Card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023360" y="274320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card → next status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58000" y="274320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moves To Do→In Progress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515600" y="27432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3017520"/>
            <a:ext cx="1156716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0723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TC-03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554480" y="307238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 Progress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023360" y="307238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Stories completed = 21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858000" y="307238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 bar shows 62% (21/34)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515600" y="307238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34015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TC-04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554480" y="34015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Burndown Chart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023360" y="340156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days remaining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4015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 line shows 21 pts remaining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0515600" y="34015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0040" y="3675888"/>
            <a:ext cx="1156716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37307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554480" y="373075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 Average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023360" y="373075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sprints: 28,29,21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730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= 26.0 pts displayed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0515600" y="37307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" y="405993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TC-06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554480" y="405993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COCOMO Calc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023360" y="405993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8.5 KLOC, Semi-Detached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858000" y="405993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Effort=34.7, Duration=9.4, Cost=₦5.2M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0515600" y="405993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20040" y="4334256"/>
            <a:ext cx="1156716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43891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TC-07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1554480" y="438912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Add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023360" y="43891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 risk form, submit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858000" y="43891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appears in register with matrix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10515600" y="438912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57200" y="471830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TC-08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1554480" y="471830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Heat Matrix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4023360" y="47183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prob=High, impact=High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858000" y="4718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 shows CRITICAL (red)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0515600" y="471830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20040" y="4992624"/>
            <a:ext cx="1156716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50474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TC-09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1554480" y="504748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Gantt Today Line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4023360" y="50474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timeline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6858000" y="50474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 dashed line on current sprint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10515600" y="50474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457200" y="537667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1554480" y="53766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SDLC Comparison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4023360" y="53766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 SDLC page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6858000" y="53766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models compared in table + cards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10515600" y="53766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20040" y="5650992"/>
            <a:ext cx="1156716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7200" y="57058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TC-11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1554480" y="57058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Workload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4023360" y="57058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team members loaded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6858000" y="57058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 bar shows distribution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10515600" y="57058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457200" y="60350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TC-12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554480" y="60350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Backlog Filter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4023360" y="603504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by Epic=Auth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6858000" y="60350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9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Authentication stories shown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10515600" y="603504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82880"/>
            <a:ext cx="5852160" cy="6382512"/>
          </a:xfrm>
          <a:prstGeom prst="rect">
            <a:avLst/>
          </a:prstGeom>
          <a:solidFill>
            <a:srgbClr val="161B27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82880"/>
            <a:ext cx="585216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8404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</a:rPr>
              <a:t>SLIDE 10 — SUMMARY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10B981"/>
                </a:solidFill>
              </a:rPr>
              <a:t>WHAT WAS DELIVERED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5544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Agile/Scrum project management dashboard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99339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 with 4-column task pipeline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323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43230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— 6 sprints, backlog management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7121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87121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with full CRUD, filtering by epic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31012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chart + live burndown canvas chart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74904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 across 8 project phases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8795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18795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with probability/impact heat matrix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62686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62686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4-member team management + RACI responsibility matrix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06577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506577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COCOMO II cost estimation with budget breakdown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50468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550468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 comparison — 6 models, 7 criteria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9436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594360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localStorage data storage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008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3D5272"/>
                </a:solidFill>
              </a:rPr>
              <a:t>CSC 436 TOPICS COVERED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65653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• Agile/Scrum • WBS • Gantt • Risk Management • COCOMO • FPA • RACI • Sprint Planning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38404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6B6D4"/>
                </a:solidFill>
              </a:rPr>
              <a:t>FUTURE ENHANCEMENTS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00800" y="594360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6400800" y="1170432"/>
            <a:ext cx="548640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0" y="1170432"/>
            <a:ext cx="54864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122529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65392" y="1536192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WebSocket-based live updates — multiple users see changes instantly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0" y="2194560"/>
            <a:ext cx="548640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0" y="2194560"/>
            <a:ext cx="54864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224942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Sprint Estimator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565392" y="256032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trained on velocity data to predict sprint capacity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0" y="3218688"/>
            <a:ext cx="548640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00800" y="3218688"/>
            <a:ext cx="54864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65392" y="327355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Jira/Trello Integration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565392" y="3584448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Import/export stories from existing PM tools via API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400800" y="4242816"/>
            <a:ext cx="548640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00800" y="4242816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42976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Value Management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565392" y="4608576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metrics: CPI, SPI, CV, SV for project health tracking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400800" y="5266944"/>
            <a:ext cx="548640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00800" y="5266944"/>
            <a:ext cx="54864" cy="9144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65392" y="532180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GitHub/GitLab Connect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565392" y="5632704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Auto-close stories when commits reference story IDs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400800" y="6291072"/>
            <a:ext cx="548640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2D3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400800" y="6291072"/>
            <a:ext cx="54864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0" y="629107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Thank You — Questions Welcome 📋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61B27"/>
          </a:solidFill>
          <a:ln w="12700">
            <a:solidFill>
              <a:srgbClr val="161B2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2880" y="6647688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5272"/>
                </a:solidFill>
              </a:rPr>
              <a:t>ProTrack | CSC 436: Software Project Management | 400-Level Computer Science | SIWES Portfolio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2026-04-06T20:57:58Z</dcterms:created>
  <dcterms:modified xsi:type="dcterms:W3CDTF">2026-04-06T20:57:58Z</dcterms:modified>
</cp:coreProperties>
</file>