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64592"/>
            <a:ext cx="7498080" cy="6327648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4592"/>
            <a:ext cx="74980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521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CSC 419 — SOFTWARE DESIGN &amp; ARCHITECTURE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ArchForge</a:t>
            </a:r>
            <a:endParaRPr lang="en-US" sz="6800" dirty="0"/>
          </a:p>
        </p:txBody>
      </p:sp>
      <p:sp>
        <p:nvSpPr>
          <p:cNvPr id="29" name="Text 27"/>
          <p:cNvSpPr/>
          <p:nvPr/>
        </p:nvSpPr>
        <p:spPr>
          <a:xfrm>
            <a:off x="457200" y="1645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Software Design &amp; Architecture Studio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57200" y="2176272"/>
            <a:ext cx="3657600" cy="36576"/>
          </a:xfrm>
          <a:prstGeom prst="rect">
            <a:avLst/>
          </a:prstGeom>
          <a:solidFill>
            <a:srgbClr val="8A5210"/>
          </a:solidFill>
          <a:ln w="12700">
            <a:solidFill>
              <a:srgbClr val="8A52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304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400-Level Computer Science | SIWES Industrial Project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26700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  •  [Matric Number]  •  [Your University]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063240"/>
            <a:ext cx="164592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54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🐍 Python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4838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Patterns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21992" y="3063240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21992" y="3063240"/>
            <a:ext cx="16459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3154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☕ Java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21992" y="34838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86784" y="3063240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86784" y="3063240"/>
            <a:ext cx="164592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6784" y="3154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🔷 TypeScript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86784" y="34838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MVC+Generics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51576" y="3063240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51576" y="3063240"/>
            <a:ext cx="16459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1576" y="3154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⚡ C++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51576" y="34838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SOLID+Templates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867912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867912"/>
            <a:ext cx="164592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959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🟣 C#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2885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CQRS+Events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21992" y="3867912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21992" y="3867912"/>
            <a:ext cx="164592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21992" y="3959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🗄 SQL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221992" y="42885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Registry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986784" y="3867912"/>
            <a:ext cx="1645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86784" y="3867912"/>
            <a:ext cx="16459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86784" y="3959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🌐 HTML/JS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986784" y="42885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001000" y="228600"/>
            <a:ext cx="1874520" cy="2103120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001000" y="228600"/>
            <a:ext cx="187452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0" y="5486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23</a:t>
            </a:r>
            <a:endParaRPr lang="en-US" sz="3600" dirty="0"/>
          </a:p>
        </p:txBody>
      </p:sp>
      <p:sp>
        <p:nvSpPr>
          <p:cNvPr id="64" name="Text 62"/>
          <p:cNvSpPr/>
          <p:nvPr/>
        </p:nvSpPr>
        <p:spPr>
          <a:xfrm>
            <a:off x="800100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Patterns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012680" y="228600"/>
            <a:ext cx="1874520" cy="2103120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012680" y="228600"/>
            <a:ext cx="187452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012680" y="5486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10012680" y="16002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001000" y="2606040"/>
            <a:ext cx="1874520" cy="2103120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001000" y="2606040"/>
            <a:ext cx="187452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01000" y="2926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3600" dirty="0"/>
          </a:p>
        </p:txBody>
      </p:sp>
      <p:sp>
        <p:nvSpPr>
          <p:cNvPr id="72" name="Text 70"/>
          <p:cNvSpPr/>
          <p:nvPr/>
        </p:nvSpPr>
        <p:spPr>
          <a:xfrm>
            <a:off x="8001000" y="3977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012680" y="2606040"/>
            <a:ext cx="1874520" cy="2103120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012680" y="2606040"/>
            <a:ext cx="187452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12680" y="2926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</a:t>
            </a:r>
            <a:endParaRPr lang="en-US" sz="3600" dirty="0"/>
          </a:p>
        </p:txBody>
      </p:sp>
      <p:sp>
        <p:nvSpPr>
          <p:cNvPr id="76" name="Text 74"/>
          <p:cNvSpPr/>
          <p:nvPr/>
        </p:nvSpPr>
        <p:spPr>
          <a:xfrm>
            <a:off x="10012680" y="39776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Styles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| CSC 419: Software Design &amp; Architecture | 7 Languages: Python · Java · TypeScript · C++ · C# · SQL · HTML | SIWES Grand Finale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GRAND FINALE — 7 LANGUAGES, MAXIMUM IMPACT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 Languages · 23 Patterns · 5 SOLID Principles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3949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8408" y="1133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14264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design_patterns.py + clean_architecture.py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0078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GoF patterns implemented. Clean Architecture with DDD, Value Objects, Ports &amp; Adapters, SOLID throughout.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17627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13969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metaclass Singleton · Abstract Factory · Builder fluent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05840"/>
            <a:ext cx="53949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22008" y="1133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Java 17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2008" y="14264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ArchForgeApplication.java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70078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architecture. Service Registry (Singleton). Circuit Breaker state machine. API Gateway routing. Domain Events.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28232" y="21762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213969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 thread pool · ConcurrentHashMap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59152"/>
            <a:ext cx="539496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🔷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8408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277977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mvc_architecture.ts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05409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with Generic Repository&lt;T&gt;, @Log Decorator, Interface Segregation, Order state machine validation.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" y="3529584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49300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GenericRepository&lt;T extends Entity&gt; · Optional&lt;T&gt;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2359152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2359152"/>
            <a:ext cx="53949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22008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C++ 17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22008" y="277977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solid_principles.cpp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05409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SOLID principles with Bad→Good examples. Generic Stack&lt;T&gt; and Cache&lt;K,V&gt; templates. Smart pointers (RAII).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28232" y="35295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349300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virtual IDatabase · shared_ptr&lt;T&gt; RAII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712464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712464"/>
            <a:ext cx="53949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🟣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78408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C#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78408" y="41330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event_driven.cs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40740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with Commands/Queries separated. Domain Events as immutable Records. Mediator dispatch. Pattern matching.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" y="488289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" y="484632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UserRegisteredEvent : DomainEventBase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3712464"/>
            <a:ext cx="539496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3712464"/>
            <a:ext cx="53949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922008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SQL (MySQL)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22008" y="41330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archforge_db.sql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440740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Registry: 7 tables tracking systems, patterns, ADRs, coupling metrics, SDLC phases per project.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28232" y="48828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74536" y="484632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calculate_instability() · coupling_analysis VIEW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91840" y="5065776"/>
            <a:ext cx="5486400" cy="1261872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91840" y="5065776"/>
            <a:ext cx="548640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5230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041648" y="52029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HTML/JS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041648" y="5522976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html/index.html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456432" y="581558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studio: SOLID explorer, GoF pattern browser, Architecture quiz, UML diagrams, Clean Arch layers.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SLIDE 03 — GANG OF FOUR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23 GoF Design Patterns — Python Implementation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374904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37490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CREATIONAL (5)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42646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4081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Singleton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" y="15910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metaclass — AppConfig one instance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837944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8928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18745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Factory Method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057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NotificationFactory.create("email")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35915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34086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Abstract Factory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" y="252374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WebUIFactory vs MobileUIFactory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82549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072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29900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DatabaseConfigBuilder().host().port().ssl().build()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36976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2918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2735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4088" y="345643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ReportTemplate.clone() — deepcopy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969264"/>
            <a:ext cx="374904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1960" y="969264"/>
            <a:ext cx="374904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024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STRUCTURAL (7)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137160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142646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14081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Adapter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36008" y="15910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LegacyPayment→ModernInterface — no modification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1837944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89280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18745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Decorator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636008" y="2057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CachingDecorator(LoggingDecorator(service))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2304288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0560" y="23591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234086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Facade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636008" y="252374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UserManagementFacade — hides 4 subsystems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89120" y="2770632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80560" y="282549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36008" y="28072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Proxy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636008" y="29900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SecureFileSystemProxy — role-based access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89120" y="3236976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80560" y="32918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36008" y="32735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Composite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636008" y="345643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File/Folder tree — uniform treatment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389120" y="370332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480560" y="375818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36008" y="37398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Bridge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636008" y="39227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abstraction + Renderer implementation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89120" y="4169664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80560" y="422452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36008" y="4206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Flyweight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636008" y="43891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 shared objects — memory efficiency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83880" y="969264"/>
            <a:ext cx="374904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83880" y="969264"/>
            <a:ext cx="37490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1024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BEHAVIORAL (11)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21040" y="137160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412480" y="14264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67928" y="14081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Observer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567928" y="15910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EventBus — subscribe/publish decoupling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21040" y="1837944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412480" y="18928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67928" y="18745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8567928" y="2057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DataSorter swaps BubbleSort ↔ QuickSort runtime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321040" y="2304288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412480" y="23591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67928" y="234086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Command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8567928" y="252374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TransferFundsCommand — undo/redo history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321040" y="2770632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412480" y="28254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67928" y="28072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Chain of Resp.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8567928" y="29900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Auth→RateLimit→Validate→Process middleware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321040" y="3236976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412480" y="32918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67928" y="32735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8567928" y="345643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Pending→Confirmed→Shipped state machine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321040" y="370332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412480" y="37581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67928" y="37398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Template Method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8567928" y="39227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skeleton, subclasses override steps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321040" y="4169664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412480" y="42245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67928" y="4206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Iterator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8567928" y="43891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GenericRepository.findWhere() sequential access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321040" y="4636008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412480" y="46908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67928" y="467258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Mediator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8567928" y="485546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mediator — central command dispatch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321040" y="5102352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412480" y="515721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67928" y="513892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Memento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8567928" y="53218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CommandHistory undo stack captures state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8321040" y="5568696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8412480" y="5623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67928" y="560527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Visitor</a:t>
            </a:r>
            <a:endParaRPr lang="en-US" sz="1150" dirty="0"/>
          </a:p>
        </p:txBody>
      </p:sp>
      <p:sp>
        <p:nvSpPr>
          <p:cNvPr id="103" name="Text 101"/>
          <p:cNvSpPr/>
          <p:nvPr/>
        </p:nvSpPr>
        <p:spPr>
          <a:xfrm>
            <a:off x="8567928" y="57881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dispatch without modifying events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321040" y="6035040"/>
            <a:ext cx="3474720" cy="40233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412480" y="60899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567928" y="60716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Interpreter</a:t>
            </a:r>
            <a:endParaRPr lang="en-US" sz="1150" dirty="0"/>
          </a:p>
        </p:txBody>
      </p:sp>
      <p:sp>
        <p:nvSpPr>
          <p:cNvPr id="107" name="Text 105"/>
          <p:cNvSpPr/>
          <p:nvPr/>
        </p:nvSpPr>
        <p:spPr>
          <a:xfrm>
            <a:off x="8567928" y="62544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parser, expression evaluator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SLIDE 04 — DESIGN PRINCIPLES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SOLID Principles — C++ &amp; Python Demonstration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3977640" cy="166420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39776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06070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Single Responsibility Principle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14264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class, one reason to change"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1664208"/>
            <a:ext cx="1805940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1700784"/>
            <a:ext cx="17145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❌ BAD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" y="1883664"/>
            <a:ext cx="17145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load_db() + calculate()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render() + save_file()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08860" y="1664208"/>
            <a:ext cx="1833372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63724" y="1700784"/>
            <a:ext cx="17602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✅ GOOD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63724" y="1883664"/>
            <a:ext cx="17602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ReportRepository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ReportCalculator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ReportRenderer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798064"/>
            <a:ext cx="3977640" cy="166420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98064"/>
            <a:ext cx="397764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88950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Open/Closed Principle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32552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for extension, closed for modification"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" y="3493008"/>
            <a:ext cx="1805940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" y="3529584"/>
            <a:ext cx="17145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❌ BAD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" y="3712464"/>
            <a:ext cx="17145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shape=="circle":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pi*r*r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shape=="rect": 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08860" y="3493008"/>
            <a:ext cx="1833372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63724" y="3529584"/>
            <a:ext cx="17602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✅ GOOD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363724" y="3712464"/>
            <a:ext cx="17602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area()  # extend!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if/else ever again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626864"/>
            <a:ext cx="3977640" cy="166420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626864"/>
            <a:ext cx="39776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" y="471830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Liskov Substitution Principle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9768" y="50840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"Subtypes substitutable for base types"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" y="5321808"/>
            <a:ext cx="1805940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" y="5358384"/>
            <a:ext cx="17145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❌ BAD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" y="5541264"/>
            <a:ext cx="17145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BadSquare(BadRectangle):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set_width() # breaks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set_height() # breaks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08860" y="5321808"/>
            <a:ext cx="1833372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63724" y="5358384"/>
            <a:ext cx="17602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✅ GOOD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63724" y="5541264"/>
            <a:ext cx="17602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GoodSquare(Quadrilateral):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GoodRectangle(Quadrilateral):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work in print_area()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62272" y="969264"/>
            <a:ext cx="3749040" cy="166420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62272" y="969264"/>
            <a:ext cx="37490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102352" y="10607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Interface Segregation Principle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0" y="14264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client forced to depend on unused methods"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1664208"/>
            <a:ext cx="1691640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26864" y="1700784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❌ BAD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26864" y="1883664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IWorker: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work() + eat()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sleep()  # Robot hates this!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36792" y="1664208"/>
            <a:ext cx="1719072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91656" y="170078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✅ GOOD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91656" y="188366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IWorkable: work()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IRestable: eat(), sleep()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Robot only implements IWorkable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02752" y="969264"/>
            <a:ext cx="3749040" cy="166420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02752" y="969264"/>
            <a:ext cx="374904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0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8942832" y="10607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Dependency Inversion Principle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412480" y="14264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 on abstractions, not concretions"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12480" y="1664208"/>
            <a:ext cx="1691640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467344" y="1700784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❌ BAD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467344" y="1883664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 = MySQLDatabase()  # hard!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Cannot swap to MongoDB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177272" y="1664208"/>
            <a:ext cx="1719072" cy="804672"/>
          </a:xfrm>
          <a:prstGeom prst="rect">
            <a:avLst/>
          </a:prstGeom>
          <a:solidFill>
            <a:srgbClr val="080D1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0232136" y="170078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✅ GOOD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232136" y="188366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__init__(db: IDatabase):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Inject PostgreSQL, MongoDB...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SLIDE 05 — ARCHITECTURE PATTERNS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Clean Architecture (Python) + Microservices (Java)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6928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692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🏛 CLEAN ARCHITECTURE — PYTHON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303520" cy="5852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54864" cy="585216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270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472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Frameworks &amp; Drivers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465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DB, UI — MOST CHANGEABLE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075688"/>
            <a:ext cx="5303520" cy="5852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075688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854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1305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Interface Adapters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404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InMemoryRepo, ConsoleNotifier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734056"/>
            <a:ext cx="5303520" cy="5852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734056"/>
            <a:ext cx="54864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84378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27889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Application Use 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06324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TransferFundsUseCase, Ports (ABC)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03520" cy="5852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92424"/>
            <a:ext cx="54864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50215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447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Domain / Entities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72160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BankAccount, Money, Transaction — ZERO deps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05993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060"/>
                </a:solidFill>
              </a:rPr>
              <a:t>DEPENDENCY RULE: SOURCE ALWAYS POINTS INWARD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242816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Domain — pure Python, ZERO imports from outer layers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deposit(self, amount: Money):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self._ensure_active()  # Business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self.balance = self.balance.add(amount)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Transaction.credit(self.id, amount)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969264"/>
            <a:ext cx="566928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969264"/>
            <a:ext cx="5669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</a:rPr>
              <a:t>☕ MICROSERVICES ARCHITECTURE — JAVA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55080" y="1426464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1426464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UserService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0" y="1481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9100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177393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+ email index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2084832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2084832"/>
            <a:ext cx="54864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39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NotificationService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26880" y="21396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9101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37960" y="243230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USER_CREATED event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743200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2743200"/>
            <a:ext cx="54864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7980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ServiceRegistry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326880" y="27980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37960" y="309067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discover services by name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3401568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5080" y="3401568"/>
            <a:ext cx="54864" cy="5852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456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APIGateway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26880" y="3456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8080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7490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rate limits all requests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55080" y="4059936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55080" y="4059936"/>
            <a:ext cx="54864" cy="5852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CircuitBreaker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2688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—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37960" y="440740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CLOSED→OPEN→HALF_OPEN resilience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55080" y="4718304"/>
            <a:ext cx="5303520" cy="58521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55080" y="4718304"/>
            <a:ext cx="54864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4773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EventBus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326880" y="4773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4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—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37960" y="506577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domain events async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SLIDE 06 — MULTI-LANGUAGE SHOWCASE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TypeScript MVC · C++ SOLID · C# CQRS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384048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384048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0A5FA"/>
                </a:solidFill>
              </a:rPr>
              <a:t>🔷 TYPESCRIPT — MVC + GENERICS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38328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Generic Repository &lt;T&gt;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GenericRepository&lt;T extends Entity&gt;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findWhere(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pred: (e: T) =&gt; boolean): T[]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@Log Decorator (AOP)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Log(target, key, desc)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orig = desc.value;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desc.value = function(...args)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 = performance.now();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 = orig.apply(this, args);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console.log('Done: '+( performance.now()-t )+'ms');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MVC Controller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ProductController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svc: ProductService) {}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createProduct(dto: CreateProductDTO)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ApiResponse&lt;IProduct&gt;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this.svc.create(dto);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{success:true, data:p};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State Machine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OrderStatus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'pending'|'confirmed'|'shipped'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|'delivered'|'cancelled';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969264"/>
            <a:ext cx="384048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969264"/>
            <a:ext cx="384048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8B5CF6"/>
                </a:solidFill>
              </a:rPr>
              <a:t>⚡ C++ — SOLID + TEMPLATES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26280" y="1371600"/>
            <a:ext cx="338328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 — Dependency Inversion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IDatabase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bool save(...)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~IDatabase() = default;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shared_ptr&lt;IDatabase&gt; db_;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explicit OrderService(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shared_ptr&lt;IDatabase&gt; db)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db_(move(db))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Swap PostgreSQL↔MongoDB!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set_db(shared_ptr&lt;IDatabase&gt; db);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Template Generic Stack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vector&lt;T&gt; data_;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push(const T&amp; item);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pop();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Works for string, int, any type!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 — Liskov Substitution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print_area(const Quadrilateral&amp; q){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q.area(); // Works for ALL!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print_area(GoodRectangle(8,4)); //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print_area(GoodSquare(5));      //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66760" y="969264"/>
            <a:ext cx="356616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969264"/>
            <a:ext cx="35661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1155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A78BFA"/>
                </a:solidFill>
              </a:rPr>
              <a:t>🟣 C# — CQRS + EVENTS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49640" y="1371600"/>
            <a:ext cx="329184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Immutable Domain Event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UserRegisteredEvent(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UserId,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Name, string Email)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DomainEventBase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string EventType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"USER_REGISTERED";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CQRS Command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CreateUserCommand(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Name, string Email)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ICommand;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Mediator dispatch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mediator.SendAsync(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CreateUserCommand(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"Alice","alice@io"));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 Matching C# 9+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msg = evt switch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UserRegisteredEvent ure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"New: "+ure.Name,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OrderPlacedEvent ope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"Order: "+ope.Total,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 =&gt; "Unknown"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— CSC 419: Software Design &amp; Architecture | SIWES Grand Finale | 7 Languages | 23 GoF Patterns | 5 SOLID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SLIDE 07 — DATABASE &amp; TESTING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SQL Architecture Registry &amp; Validation Results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676656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67665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</a:rPr>
              <a:t>🗄 SQL — ARCHITECTURE REGISTRY (7 TABLES)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426464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426464"/>
            <a:ext cx="54864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481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481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arch_style ENUM, languages, version, status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993392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993392"/>
            <a:ext cx="54864" cy="4937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0482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0482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ENUM, complexity, test_coverage, loc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560320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60320"/>
            <a:ext cx="54864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6151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design_patterns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6151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ENUM, language, file_path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127248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127248"/>
            <a:ext cx="54864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182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182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coupling_level, is_interface (DIP check!)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694176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694176"/>
            <a:ext cx="54864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architecture_decisions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number, context, decision, consequences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261104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261104"/>
            <a:ext cx="54864" cy="4937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quality_metrics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Ce, instability, maintainability_index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28032"/>
            <a:ext cx="6492240" cy="493776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4828032"/>
            <a:ext cx="54864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48828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sdlc_phases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4882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Requirements→Design→Impl→Test→Deploy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54864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060"/>
                </a:solidFill>
              </a:rPr>
              <a:t>SAMPLE QUERY: CALCULATE COMPONENT INSTABILITY SCORE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56692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calculate_instability(component_id); -- Returns Ca, Ce, instability 0.0→1.0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969264"/>
            <a:ext cx="4663440" cy="539496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69480" y="969264"/>
            <a:ext cx="46634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1115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</a:rPr>
              <a:t>TESTING &amp; VALIDATION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52360" y="1371600"/>
            <a:ext cx="1325880" cy="74980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52360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52360" y="18288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15400" y="1371600"/>
            <a:ext cx="1325880" cy="74980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915400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14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915400" y="18288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378440" y="1371600"/>
            <a:ext cx="1325880" cy="74980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378440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378440" y="18288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52360" y="2231136"/>
            <a:ext cx="4297680" cy="274320"/>
          </a:xfrm>
          <a:prstGeom prst="rect">
            <a:avLst/>
          </a:prstGeom>
          <a:solidFill>
            <a:srgbClr val="10192E"/>
          </a:solidFill>
          <a:ln w="12700">
            <a:solidFill>
              <a:srgbClr val="1D2F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24942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759952" y="2249424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058400" y="224942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384280" y="22494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52360" y="2542032"/>
            <a:ext cx="4297680" cy="329184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71232" y="259689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GoF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59952" y="259689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patterns run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0" y="259689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correct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384280" y="2596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571232" y="294436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759952" y="294436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domain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058400" y="29443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384280" y="29443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452360" y="3236976"/>
            <a:ext cx="4297680" cy="329184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329184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Microservices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759952" y="3291840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create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058400" y="329184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fires→Email sent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1384280" y="32918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571232" y="363931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59952" y="3639312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 triggered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058400" y="363931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CLOSED→OPEN state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1384280" y="36393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452360" y="3931920"/>
            <a:ext cx="4297680" cy="329184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398678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MVC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759952" y="3986784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058400" y="398678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Type-safe, @Log fires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1384280" y="39867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571232" y="433425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SOLID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759952" y="433425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swap DB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058400" y="433425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PostgreSQL→MongoDB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1384280" y="43342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452360" y="4626864"/>
            <a:ext cx="4297680" cy="329184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71232" y="468172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CQRS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759952" y="468172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CreateUserCommand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058400" y="46817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✓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1384280" y="468172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571232" y="502920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ADR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759952" y="5029200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decision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058400" y="50292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query correct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1384280" y="502920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452360" y="5321808"/>
            <a:ext cx="4297680" cy="329184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71232" y="537667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Quiz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8759952" y="5376672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0058400" y="537667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computed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1384280" y="537667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571232" y="572414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Filter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759952" y="5724144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Behavioral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058400" y="572414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patterns shown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1384280" y="572414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D2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4592"/>
            <a:ext cx="5943600" cy="6327648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64592"/>
            <a:ext cx="59436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A623"/>
                </a:solidFill>
              </a:rPr>
              <a:t>GRAND FINALE — CSC 419 SUMMARY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54864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Conclusion — What Was Built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38912" y="157276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5361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23 GoF patterns fully implemented with real examples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197510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9385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Clean Architecture — Domain, Application, Adapter, Framework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23774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3408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Microservices — Service Registry, Circuit Breaker, API Gateway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27797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7432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Domain Events — UserRegisteredEvent triggers email notification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" y="3182112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14553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MVC with Generic Repository&lt;T&gt; and @Log decorator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3584448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5478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Order state machine validated at compile + runtime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" y="398678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502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All 5 SOLID principles — Bad vs Good with real examples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" y="43891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525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Generic Stack&lt;T&gt;, Cache&lt;K,V&gt; — compile-time polymorphism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" y="479145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548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CQRS — Commands and Queries fully separated with Mediator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" y="519379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15721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Pattern matching on event types — C# 9 records + switch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" y="55961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5595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7-table Architecture Registry — ADRs, coupling, instability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" y="59984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9618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Interactive dashboard — SOLID explorer, GoF browser, quiz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82512" y="164592"/>
            <a:ext cx="5577840" cy="329184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82512" y="164592"/>
            <a:ext cx="55778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A78BFA"/>
                </a:solidFill>
              </a:rPr>
              <a:t>COMPLETE SIWES PORTFOLIO — ALL 6 COURSES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565392" y="676656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565392" y="676656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72237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26096" y="722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SmartLib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235440" y="722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DB Management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65392" y="1115568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565392" y="1115568"/>
            <a:ext cx="54864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116128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413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26096" y="1161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DiscreteMind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35440" y="11612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 Explorer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65392" y="1554480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565392" y="1554480"/>
            <a:ext cx="54864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16002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434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626096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CipherShield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2354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Lab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565392" y="1993392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565392" y="1993392"/>
            <a:ext cx="54864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9984" y="20391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436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626096" y="2039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ProTrack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235440" y="2039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PM System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565392" y="2432304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65392" y="2432304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29984" y="247802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417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626096" y="24780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NetPulse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235440" y="2478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 Lab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65392" y="2871216"/>
            <a:ext cx="5212080" cy="384048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565392" y="2871216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9984" y="291693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419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626096" y="29169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ArchForge ✦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235440" y="29169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 Studio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382512" y="3566160"/>
            <a:ext cx="5577840" cy="3017520"/>
          </a:xfrm>
          <a:prstGeom prst="rect">
            <a:avLst/>
          </a:prstGeom>
          <a:solidFill>
            <a:srgbClr val="080D18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382512" y="3566160"/>
            <a:ext cx="557784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65392" y="371246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2D3EE"/>
                </a:solidFill>
              </a:rPr>
              <a:t>FUTURE ENHANCEMENTS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565392" y="3931920"/>
            <a:ext cx="5212080" cy="47548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565392" y="3931920"/>
            <a:ext cx="54864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9984" y="3986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PulseBank FinTech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9326880" y="39867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courses merged into one banking app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65392" y="4462272"/>
            <a:ext cx="5212080" cy="47548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565392" y="4462272"/>
            <a:ext cx="54864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29984" y="45171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Kubernetes Deploy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9326880" y="45171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Microservices on K8s cluster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565392" y="4992624"/>
            <a:ext cx="5212080" cy="47548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565392" y="4992624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29984" y="5047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9326880" y="50474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 pattern recommendation engine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565392" y="5522976"/>
            <a:ext cx="5212080" cy="47548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565392" y="5522976"/>
            <a:ext cx="54864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29984" y="55778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Architecture Linter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9326880" y="5577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SOLID violations in codebase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565392" y="6053328"/>
            <a:ext cx="5212080" cy="475488"/>
          </a:xfrm>
          <a:prstGeom prst="rect">
            <a:avLst/>
          </a:prstGeom>
          <a:solidFill>
            <a:srgbClr val="0C1322"/>
          </a:solidFill>
          <a:ln w="12700">
            <a:solidFill>
              <a:srgbClr val="1D2F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6565392" y="6053328"/>
            <a:ext cx="54864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29984" y="6108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Architecture ADR CLI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9326880" y="61081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ADR markdown from terminal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382512" y="6473952"/>
            <a:ext cx="5577840" cy="347472"/>
          </a:xfrm>
          <a:prstGeom prst="rect">
            <a:avLst/>
          </a:prstGeom>
          <a:solidFill>
            <a:srgbClr val="0C132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382512" y="6473952"/>
            <a:ext cx="55778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82512" y="647395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🏆 Grand Finale Complete — Thank You!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80D18"/>
          </a:solidFill>
          <a:ln w="12700">
            <a:solidFill>
              <a:srgbClr val="080D1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2880" y="6656832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060"/>
                </a:solidFill>
              </a:rPr>
              <a:t>ArchForge | CSC 419: Software Design &amp; Architecture | SIWES Grand Finale | 7 Languages | 23 GoF | 5 SOLID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2026-04-08T14:17:55Z</dcterms:created>
  <dcterms:modified xsi:type="dcterms:W3CDTF">2026-04-08T14:17:55Z</dcterms:modified>
</cp:coreProperties>
</file>